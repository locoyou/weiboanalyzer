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60" r:id="rId6"/>
    <p:sldId id="259" r:id="rId7"/>
    <p:sldId id="264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B9DF40-1931-4062-92F1-8E10C39AA81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2664E9C-AA10-4FCF-87AA-7B6F2A8195CB}">
      <dgm:prSet phldrT="[文本]"/>
      <dgm:spPr/>
      <dgm:t>
        <a:bodyPr/>
        <a:lstStyle/>
        <a:p>
          <a:r>
            <a:rPr lang="zh-CN" altLang="en-US" dirty="0" smtClean="0"/>
            <a:t>给定微博账户列表与时间区间</a:t>
          </a:r>
          <a:endParaRPr lang="zh-CN" altLang="en-US" dirty="0"/>
        </a:p>
      </dgm:t>
    </dgm:pt>
    <dgm:pt modelId="{0C28F3FF-527E-4619-BDB4-8EAC17B006D9}" type="parTrans" cxnId="{E71E3F62-B4CA-4FBD-AD60-55349E503DDA}">
      <dgm:prSet/>
      <dgm:spPr/>
      <dgm:t>
        <a:bodyPr/>
        <a:lstStyle/>
        <a:p>
          <a:endParaRPr lang="zh-CN" altLang="en-US"/>
        </a:p>
      </dgm:t>
    </dgm:pt>
    <dgm:pt modelId="{DC464D4F-C4CD-4D25-A121-EBA944E55799}" type="sibTrans" cxnId="{E71E3F62-B4CA-4FBD-AD60-55349E503DDA}">
      <dgm:prSet/>
      <dgm:spPr/>
      <dgm:t>
        <a:bodyPr/>
        <a:lstStyle/>
        <a:p>
          <a:endParaRPr lang="zh-CN" altLang="en-US"/>
        </a:p>
      </dgm:t>
    </dgm:pt>
    <dgm:pt modelId="{9496865E-ECC0-47A4-828C-B418CD66EBC5}">
      <dgm:prSet phldrT="[文本]"/>
      <dgm:spPr/>
      <dgm:t>
        <a:bodyPr/>
        <a:lstStyle/>
        <a:p>
          <a:r>
            <a:rPr lang="zh-CN" altLang="en-US" dirty="0" smtClean="0"/>
            <a:t>筛选该时间区间内给定微博账户发的且评论与转发数均大于</a:t>
          </a:r>
          <a:r>
            <a:rPr lang="en-US" altLang="zh-CN" dirty="0" smtClean="0"/>
            <a:t>N</a:t>
          </a:r>
          <a:r>
            <a:rPr lang="zh-CN" altLang="en-US" dirty="0" smtClean="0"/>
            <a:t>的博文</a:t>
          </a:r>
          <a:endParaRPr lang="zh-CN" altLang="en-US" dirty="0"/>
        </a:p>
      </dgm:t>
    </dgm:pt>
    <dgm:pt modelId="{4FE2BBB9-4831-4EAD-85AC-35FAA032A5F7}" type="parTrans" cxnId="{9868965B-EE90-4805-A1A1-53EF0DADAE98}">
      <dgm:prSet/>
      <dgm:spPr/>
      <dgm:t>
        <a:bodyPr/>
        <a:lstStyle/>
        <a:p>
          <a:endParaRPr lang="zh-CN" altLang="en-US"/>
        </a:p>
      </dgm:t>
    </dgm:pt>
    <dgm:pt modelId="{FC761F3A-5340-42AB-9246-42CF19F97B5E}" type="sibTrans" cxnId="{9868965B-EE90-4805-A1A1-53EF0DADAE98}">
      <dgm:prSet/>
      <dgm:spPr/>
      <dgm:t>
        <a:bodyPr/>
        <a:lstStyle/>
        <a:p>
          <a:endParaRPr lang="zh-CN" altLang="en-US"/>
        </a:p>
      </dgm:t>
    </dgm:pt>
    <dgm:pt modelId="{40EB0990-601A-47F8-A707-9A96571CA509}">
      <dgm:prSet phldrT="[文本]"/>
      <dgm:spPr/>
      <dgm:t>
        <a:bodyPr/>
        <a:lstStyle/>
        <a:p>
          <a:r>
            <a:rPr lang="zh-CN" altLang="en-US" dirty="0" smtClean="0"/>
            <a:t>摘取筛选所得的博文下所有的转发与评论者及其内容</a:t>
          </a:r>
          <a:endParaRPr lang="zh-CN" altLang="en-US" dirty="0"/>
        </a:p>
      </dgm:t>
    </dgm:pt>
    <dgm:pt modelId="{7922D793-45D0-4992-B60D-EBD818409AD4}" type="parTrans" cxnId="{3A84BBA7-05DB-418E-88CC-92A0AB4E142D}">
      <dgm:prSet/>
      <dgm:spPr/>
      <dgm:t>
        <a:bodyPr/>
        <a:lstStyle/>
        <a:p>
          <a:endParaRPr lang="zh-CN" altLang="en-US"/>
        </a:p>
      </dgm:t>
    </dgm:pt>
    <dgm:pt modelId="{342E47B1-2EAD-47B7-9451-16D07419DA6F}" type="sibTrans" cxnId="{3A84BBA7-05DB-418E-88CC-92A0AB4E142D}">
      <dgm:prSet/>
      <dgm:spPr/>
      <dgm:t>
        <a:bodyPr/>
        <a:lstStyle/>
        <a:p>
          <a:endParaRPr lang="zh-CN" altLang="en-US"/>
        </a:p>
      </dgm:t>
    </dgm:pt>
    <dgm:pt modelId="{32DAC408-89BA-4F49-9791-5D728DF543B9}">
      <dgm:prSet phldrT="[文本]"/>
      <dgm:spPr/>
      <dgm:t>
        <a:bodyPr/>
        <a:lstStyle/>
        <a:p>
          <a:r>
            <a:rPr lang="zh-CN" altLang="en-US" dirty="0" smtClean="0"/>
            <a:t>对内容进行语义分析，获得对话关系矩阵</a:t>
          </a:r>
          <a:endParaRPr lang="zh-CN" altLang="en-US" dirty="0"/>
        </a:p>
      </dgm:t>
    </dgm:pt>
    <dgm:pt modelId="{9D6F1192-0406-48C7-9CF7-C6583340EB85}" type="parTrans" cxnId="{F68F654F-D5D4-4579-B0E4-976A5EFB6CFE}">
      <dgm:prSet/>
      <dgm:spPr/>
      <dgm:t>
        <a:bodyPr/>
        <a:lstStyle/>
        <a:p>
          <a:endParaRPr lang="zh-CN" altLang="en-US"/>
        </a:p>
      </dgm:t>
    </dgm:pt>
    <dgm:pt modelId="{CDA5D880-5FEA-437E-BA71-16AC2832BAAE}" type="sibTrans" cxnId="{F68F654F-D5D4-4579-B0E4-976A5EFB6CFE}">
      <dgm:prSet/>
      <dgm:spPr/>
      <dgm:t>
        <a:bodyPr/>
        <a:lstStyle/>
        <a:p>
          <a:endParaRPr lang="zh-CN" altLang="en-US"/>
        </a:p>
      </dgm:t>
    </dgm:pt>
    <dgm:pt modelId="{941C3B91-6B08-4E32-B3B6-5BC2D9F12663}" type="pres">
      <dgm:prSet presAssocID="{6CB9DF40-1931-4062-92F1-8E10C39AA810}" presName="Name0" presStyleCnt="0">
        <dgm:presLayoutVars>
          <dgm:dir/>
          <dgm:resizeHandles val="exact"/>
        </dgm:presLayoutVars>
      </dgm:prSet>
      <dgm:spPr/>
    </dgm:pt>
    <dgm:pt modelId="{0E190E27-DAE4-4B5D-9498-C922160187E2}" type="pres">
      <dgm:prSet presAssocID="{42664E9C-AA10-4FCF-87AA-7B6F2A8195C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1EAC6DB-02BC-4B8B-8341-185934648B17}" type="pres">
      <dgm:prSet presAssocID="{DC464D4F-C4CD-4D25-A121-EBA944E55799}" presName="sibTrans" presStyleLbl="sibTrans2D1" presStyleIdx="0" presStyleCnt="3"/>
      <dgm:spPr/>
    </dgm:pt>
    <dgm:pt modelId="{FBFC4794-BB90-492D-ADDC-8739BB77074F}" type="pres">
      <dgm:prSet presAssocID="{DC464D4F-C4CD-4D25-A121-EBA944E55799}" presName="connectorText" presStyleLbl="sibTrans2D1" presStyleIdx="0" presStyleCnt="3"/>
      <dgm:spPr/>
    </dgm:pt>
    <dgm:pt modelId="{0350D048-40DC-4D38-9243-5E719536195A}" type="pres">
      <dgm:prSet presAssocID="{9496865E-ECC0-47A4-828C-B418CD66EBC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97859DD-2289-4B78-9014-9E0833774CE9}" type="pres">
      <dgm:prSet presAssocID="{FC761F3A-5340-42AB-9246-42CF19F97B5E}" presName="sibTrans" presStyleLbl="sibTrans2D1" presStyleIdx="1" presStyleCnt="3"/>
      <dgm:spPr/>
    </dgm:pt>
    <dgm:pt modelId="{B63B4F6B-2E2C-4CC8-862A-67BB8B316844}" type="pres">
      <dgm:prSet presAssocID="{FC761F3A-5340-42AB-9246-42CF19F97B5E}" presName="connectorText" presStyleLbl="sibTrans2D1" presStyleIdx="1" presStyleCnt="3"/>
      <dgm:spPr/>
    </dgm:pt>
    <dgm:pt modelId="{D591F42F-AC53-48C2-BDAA-D1A6C0465A56}" type="pres">
      <dgm:prSet presAssocID="{40EB0990-601A-47F8-A707-9A96571CA509}" presName="node" presStyleLbl="node1" presStyleIdx="2" presStyleCnt="4">
        <dgm:presLayoutVars>
          <dgm:bulletEnabled val="1"/>
        </dgm:presLayoutVars>
      </dgm:prSet>
      <dgm:spPr/>
    </dgm:pt>
    <dgm:pt modelId="{CD4BC7B6-C622-4AFC-A2D7-846EAA4DAC8C}" type="pres">
      <dgm:prSet presAssocID="{342E47B1-2EAD-47B7-9451-16D07419DA6F}" presName="sibTrans" presStyleLbl="sibTrans2D1" presStyleIdx="2" presStyleCnt="3"/>
      <dgm:spPr/>
    </dgm:pt>
    <dgm:pt modelId="{717570F2-4BE8-412E-B6E6-128B55546842}" type="pres">
      <dgm:prSet presAssocID="{342E47B1-2EAD-47B7-9451-16D07419DA6F}" presName="connectorText" presStyleLbl="sibTrans2D1" presStyleIdx="2" presStyleCnt="3"/>
      <dgm:spPr/>
    </dgm:pt>
    <dgm:pt modelId="{4BE22155-ACFA-40DA-9B0A-980C214A60C0}" type="pres">
      <dgm:prSet presAssocID="{32DAC408-89BA-4F49-9791-5D728DF543B9}" presName="node" presStyleLbl="node1" presStyleIdx="3" presStyleCnt="4">
        <dgm:presLayoutVars>
          <dgm:bulletEnabled val="1"/>
        </dgm:presLayoutVars>
      </dgm:prSet>
      <dgm:spPr/>
    </dgm:pt>
  </dgm:ptLst>
  <dgm:cxnLst>
    <dgm:cxn modelId="{4A18F760-A67E-4919-8FC8-59B2B59F5C5B}" type="presOf" srcId="{40EB0990-601A-47F8-A707-9A96571CA509}" destId="{D591F42F-AC53-48C2-BDAA-D1A6C0465A56}" srcOrd="0" destOrd="0" presId="urn:microsoft.com/office/officeart/2005/8/layout/process1"/>
    <dgm:cxn modelId="{E71E3F62-B4CA-4FBD-AD60-55349E503DDA}" srcId="{6CB9DF40-1931-4062-92F1-8E10C39AA810}" destId="{42664E9C-AA10-4FCF-87AA-7B6F2A8195CB}" srcOrd="0" destOrd="0" parTransId="{0C28F3FF-527E-4619-BDB4-8EAC17B006D9}" sibTransId="{DC464D4F-C4CD-4D25-A121-EBA944E55799}"/>
    <dgm:cxn modelId="{22200BFC-E818-43B4-A677-07B81B638616}" type="presOf" srcId="{6CB9DF40-1931-4062-92F1-8E10C39AA810}" destId="{941C3B91-6B08-4E32-B3B6-5BC2D9F12663}" srcOrd="0" destOrd="0" presId="urn:microsoft.com/office/officeart/2005/8/layout/process1"/>
    <dgm:cxn modelId="{C66E1B54-F006-4790-A63F-91EE3AD7498A}" type="presOf" srcId="{342E47B1-2EAD-47B7-9451-16D07419DA6F}" destId="{CD4BC7B6-C622-4AFC-A2D7-846EAA4DAC8C}" srcOrd="0" destOrd="0" presId="urn:microsoft.com/office/officeart/2005/8/layout/process1"/>
    <dgm:cxn modelId="{3A84BBA7-05DB-418E-88CC-92A0AB4E142D}" srcId="{6CB9DF40-1931-4062-92F1-8E10C39AA810}" destId="{40EB0990-601A-47F8-A707-9A96571CA509}" srcOrd="2" destOrd="0" parTransId="{7922D793-45D0-4992-B60D-EBD818409AD4}" sibTransId="{342E47B1-2EAD-47B7-9451-16D07419DA6F}"/>
    <dgm:cxn modelId="{E5EE6856-070F-4AE9-A615-B2B6612A3B96}" type="presOf" srcId="{FC761F3A-5340-42AB-9246-42CF19F97B5E}" destId="{B97859DD-2289-4B78-9014-9E0833774CE9}" srcOrd="0" destOrd="0" presId="urn:microsoft.com/office/officeart/2005/8/layout/process1"/>
    <dgm:cxn modelId="{6E8644F6-A743-4F4D-B683-EFC54FBCB14F}" type="presOf" srcId="{42664E9C-AA10-4FCF-87AA-7B6F2A8195CB}" destId="{0E190E27-DAE4-4B5D-9498-C922160187E2}" srcOrd="0" destOrd="0" presId="urn:microsoft.com/office/officeart/2005/8/layout/process1"/>
    <dgm:cxn modelId="{F68F654F-D5D4-4579-B0E4-976A5EFB6CFE}" srcId="{6CB9DF40-1931-4062-92F1-8E10C39AA810}" destId="{32DAC408-89BA-4F49-9791-5D728DF543B9}" srcOrd="3" destOrd="0" parTransId="{9D6F1192-0406-48C7-9CF7-C6583340EB85}" sibTransId="{CDA5D880-5FEA-437E-BA71-16AC2832BAAE}"/>
    <dgm:cxn modelId="{A903F67F-9DC7-44E8-911B-90F1779FB39A}" type="presOf" srcId="{32DAC408-89BA-4F49-9791-5D728DF543B9}" destId="{4BE22155-ACFA-40DA-9B0A-980C214A60C0}" srcOrd="0" destOrd="0" presId="urn:microsoft.com/office/officeart/2005/8/layout/process1"/>
    <dgm:cxn modelId="{2674EABE-2E5D-4423-939F-FEC8D6B0FF3F}" type="presOf" srcId="{342E47B1-2EAD-47B7-9451-16D07419DA6F}" destId="{717570F2-4BE8-412E-B6E6-128B55546842}" srcOrd="1" destOrd="0" presId="urn:microsoft.com/office/officeart/2005/8/layout/process1"/>
    <dgm:cxn modelId="{FFCEFFB2-2CD9-4AFC-A9FA-D57053825A1E}" type="presOf" srcId="{DC464D4F-C4CD-4D25-A121-EBA944E55799}" destId="{FBFC4794-BB90-492D-ADDC-8739BB77074F}" srcOrd="1" destOrd="0" presId="urn:microsoft.com/office/officeart/2005/8/layout/process1"/>
    <dgm:cxn modelId="{CD84F739-B52B-4B7F-8AB3-70194FDF59B9}" type="presOf" srcId="{FC761F3A-5340-42AB-9246-42CF19F97B5E}" destId="{B63B4F6B-2E2C-4CC8-862A-67BB8B316844}" srcOrd="1" destOrd="0" presId="urn:microsoft.com/office/officeart/2005/8/layout/process1"/>
    <dgm:cxn modelId="{03CDC7F6-CEA2-477B-87A1-A453ED4CE4BA}" type="presOf" srcId="{9496865E-ECC0-47A4-828C-B418CD66EBC5}" destId="{0350D048-40DC-4D38-9243-5E719536195A}" srcOrd="0" destOrd="0" presId="urn:microsoft.com/office/officeart/2005/8/layout/process1"/>
    <dgm:cxn modelId="{F6B70131-209A-414D-B61B-D22045CC402B}" type="presOf" srcId="{DC464D4F-C4CD-4D25-A121-EBA944E55799}" destId="{D1EAC6DB-02BC-4B8B-8341-185934648B17}" srcOrd="0" destOrd="0" presId="urn:microsoft.com/office/officeart/2005/8/layout/process1"/>
    <dgm:cxn modelId="{9868965B-EE90-4805-A1A1-53EF0DADAE98}" srcId="{6CB9DF40-1931-4062-92F1-8E10C39AA810}" destId="{9496865E-ECC0-47A4-828C-B418CD66EBC5}" srcOrd="1" destOrd="0" parTransId="{4FE2BBB9-4831-4EAD-85AC-35FAA032A5F7}" sibTransId="{FC761F3A-5340-42AB-9246-42CF19F97B5E}"/>
    <dgm:cxn modelId="{83412CEA-4D0B-4B03-8EB7-FFA2E42E3F23}" type="presParOf" srcId="{941C3B91-6B08-4E32-B3B6-5BC2D9F12663}" destId="{0E190E27-DAE4-4B5D-9498-C922160187E2}" srcOrd="0" destOrd="0" presId="urn:microsoft.com/office/officeart/2005/8/layout/process1"/>
    <dgm:cxn modelId="{CF312852-7827-4045-83B6-037A5C8596C9}" type="presParOf" srcId="{941C3B91-6B08-4E32-B3B6-5BC2D9F12663}" destId="{D1EAC6DB-02BC-4B8B-8341-185934648B17}" srcOrd="1" destOrd="0" presId="urn:microsoft.com/office/officeart/2005/8/layout/process1"/>
    <dgm:cxn modelId="{1C71C73A-288E-4C77-B5DF-BFC45259F440}" type="presParOf" srcId="{D1EAC6DB-02BC-4B8B-8341-185934648B17}" destId="{FBFC4794-BB90-492D-ADDC-8739BB77074F}" srcOrd="0" destOrd="0" presId="urn:microsoft.com/office/officeart/2005/8/layout/process1"/>
    <dgm:cxn modelId="{BCB530F5-DCA0-4837-ADAA-623C03BA2FE9}" type="presParOf" srcId="{941C3B91-6B08-4E32-B3B6-5BC2D9F12663}" destId="{0350D048-40DC-4D38-9243-5E719536195A}" srcOrd="2" destOrd="0" presId="urn:microsoft.com/office/officeart/2005/8/layout/process1"/>
    <dgm:cxn modelId="{9622160A-27DE-4732-9139-B8F5455A44B4}" type="presParOf" srcId="{941C3B91-6B08-4E32-B3B6-5BC2D9F12663}" destId="{B97859DD-2289-4B78-9014-9E0833774CE9}" srcOrd="3" destOrd="0" presId="urn:microsoft.com/office/officeart/2005/8/layout/process1"/>
    <dgm:cxn modelId="{1381C0AA-61D0-4CE8-852D-81308B4D64A9}" type="presParOf" srcId="{B97859DD-2289-4B78-9014-9E0833774CE9}" destId="{B63B4F6B-2E2C-4CC8-862A-67BB8B316844}" srcOrd="0" destOrd="0" presId="urn:microsoft.com/office/officeart/2005/8/layout/process1"/>
    <dgm:cxn modelId="{724ADE2A-EBE6-4F2A-B82A-BB2059DD6FA1}" type="presParOf" srcId="{941C3B91-6B08-4E32-B3B6-5BC2D9F12663}" destId="{D591F42F-AC53-48C2-BDAA-D1A6C0465A56}" srcOrd="4" destOrd="0" presId="urn:microsoft.com/office/officeart/2005/8/layout/process1"/>
    <dgm:cxn modelId="{4B8D3376-140C-4579-85A0-7D976C6F3149}" type="presParOf" srcId="{941C3B91-6B08-4E32-B3B6-5BC2D9F12663}" destId="{CD4BC7B6-C622-4AFC-A2D7-846EAA4DAC8C}" srcOrd="5" destOrd="0" presId="urn:microsoft.com/office/officeart/2005/8/layout/process1"/>
    <dgm:cxn modelId="{AFFEBBF2-4989-48C5-8FF7-638CEAD5A286}" type="presParOf" srcId="{CD4BC7B6-C622-4AFC-A2D7-846EAA4DAC8C}" destId="{717570F2-4BE8-412E-B6E6-128B55546842}" srcOrd="0" destOrd="0" presId="urn:microsoft.com/office/officeart/2005/8/layout/process1"/>
    <dgm:cxn modelId="{0F3A632E-7144-4BAE-BC8D-7ABD0BB8F12A}" type="presParOf" srcId="{941C3B91-6B08-4E32-B3B6-5BC2D9F12663}" destId="{4BE22155-ACFA-40DA-9B0A-980C214A60C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E190E27-DAE4-4B5D-9498-C922160187E2}">
      <dsp:nvSpPr>
        <dsp:cNvPr id="0" name=""/>
        <dsp:cNvSpPr/>
      </dsp:nvSpPr>
      <dsp:spPr>
        <a:xfrm>
          <a:off x="3616" y="29184"/>
          <a:ext cx="1581224" cy="1482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给定微博账户列表与时间区间</a:t>
          </a:r>
          <a:endParaRPr lang="zh-CN" altLang="en-US" sz="1700" kern="1200" dirty="0"/>
        </a:p>
      </dsp:txBody>
      <dsp:txXfrm>
        <a:off x="3616" y="29184"/>
        <a:ext cx="1581224" cy="1482397"/>
      </dsp:txXfrm>
    </dsp:sp>
    <dsp:sp modelId="{D1EAC6DB-02BC-4B8B-8341-185934648B17}">
      <dsp:nvSpPr>
        <dsp:cNvPr id="0" name=""/>
        <dsp:cNvSpPr/>
      </dsp:nvSpPr>
      <dsp:spPr>
        <a:xfrm>
          <a:off x="1742963" y="574311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1742963" y="574311"/>
        <a:ext cx="335219" cy="392143"/>
      </dsp:txXfrm>
    </dsp:sp>
    <dsp:sp modelId="{0350D048-40DC-4D38-9243-5E719536195A}">
      <dsp:nvSpPr>
        <dsp:cNvPr id="0" name=""/>
        <dsp:cNvSpPr/>
      </dsp:nvSpPr>
      <dsp:spPr>
        <a:xfrm>
          <a:off x="2217330" y="29184"/>
          <a:ext cx="1581224" cy="1482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筛选该时间区间内给定微博账户发的且评论与转发数均大于</a:t>
          </a:r>
          <a:r>
            <a:rPr lang="en-US" altLang="zh-CN" sz="1700" kern="1200" dirty="0" smtClean="0"/>
            <a:t>N</a:t>
          </a:r>
          <a:r>
            <a:rPr lang="zh-CN" altLang="en-US" sz="1700" kern="1200" dirty="0" smtClean="0"/>
            <a:t>的博文</a:t>
          </a:r>
          <a:endParaRPr lang="zh-CN" altLang="en-US" sz="1700" kern="1200" dirty="0"/>
        </a:p>
      </dsp:txBody>
      <dsp:txXfrm>
        <a:off x="2217330" y="29184"/>
        <a:ext cx="1581224" cy="1482397"/>
      </dsp:txXfrm>
    </dsp:sp>
    <dsp:sp modelId="{B97859DD-2289-4B78-9014-9E0833774CE9}">
      <dsp:nvSpPr>
        <dsp:cNvPr id="0" name=""/>
        <dsp:cNvSpPr/>
      </dsp:nvSpPr>
      <dsp:spPr>
        <a:xfrm>
          <a:off x="3956677" y="574311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3956677" y="574311"/>
        <a:ext cx="335219" cy="392143"/>
      </dsp:txXfrm>
    </dsp:sp>
    <dsp:sp modelId="{D591F42F-AC53-48C2-BDAA-D1A6C0465A56}">
      <dsp:nvSpPr>
        <dsp:cNvPr id="0" name=""/>
        <dsp:cNvSpPr/>
      </dsp:nvSpPr>
      <dsp:spPr>
        <a:xfrm>
          <a:off x="4431044" y="29184"/>
          <a:ext cx="1581224" cy="1482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摘取筛选所得的博文下所有的转发与评论者及其内容</a:t>
          </a:r>
          <a:endParaRPr lang="zh-CN" altLang="en-US" sz="1700" kern="1200" dirty="0"/>
        </a:p>
      </dsp:txBody>
      <dsp:txXfrm>
        <a:off x="4431044" y="29184"/>
        <a:ext cx="1581224" cy="1482397"/>
      </dsp:txXfrm>
    </dsp:sp>
    <dsp:sp modelId="{CD4BC7B6-C622-4AFC-A2D7-846EAA4DAC8C}">
      <dsp:nvSpPr>
        <dsp:cNvPr id="0" name=""/>
        <dsp:cNvSpPr/>
      </dsp:nvSpPr>
      <dsp:spPr>
        <a:xfrm>
          <a:off x="6170391" y="574311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6170391" y="574311"/>
        <a:ext cx="335219" cy="392143"/>
      </dsp:txXfrm>
    </dsp:sp>
    <dsp:sp modelId="{4BE22155-ACFA-40DA-9B0A-980C214A60C0}">
      <dsp:nvSpPr>
        <dsp:cNvPr id="0" name=""/>
        <dsp:cNvSpPr/>
      </dsp:nvSpPr>
      <dsp:spPr>
        <a:xfrm>
          <a:off x="6644759" y="29184"/>
          <a:ext cx="1581224" cy="1482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kern="1200" dirty="0" smtClean="0"/>
            <a:t>对内容进行语义分析，获得对话关系矩阵</a:t>
          </a:r>
          <a:endParaRPr lang="zh-CN" altLang="en-US" sz="1700" kern="1200" dirty="0"/>
        </a:p>
      </dsp:txBody>
      <dsp:txXfrm>
        <a:off x="6644759" y="29184"/>
        <a:ext cx="1581224" cy="14823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3E476-6866-4A73-97D5-FCCB0CC47ED7}" type="datetimeFigureOut">
              <a:rPr lang="zh-CN" altLang="en-US" smtClean="0"/>
              <a:t>2013/4/17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2371E-5F54-4E74-9AE2-35A252B67F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open.weibo.com/wiki/API%E6%96%87%E6%A1%A3_V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eibo.com/2490877915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eibo.com/n/%E7%91%9C%E9%BE%99%E5%AE%9D%E8%B4%9D" TargetMode="External"/><Relationship Id="rId5" Type="http://schemas.openxmlformats.org/officeDocument/2006/relationships/hyperlink" Target="http://weibo.com/1795681617" TargetMode="Externa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程序需求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王晓珊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综述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1540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3717032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输入</a:t>
            </a:r>
            <a:r>
              <a:rPr lang="zh-CN" altLang="en-US" dirty="0" smtClean="0"/>
              <a:t>：微博列表，时间区间，</a:t>
            </a:r>
            <a:r>
              <a:rPr lang="en-US" altLang="zh-CN" dirty="0" smtClean="0"/>
              <a:t>N</a:t>
            </a:r>
            <a:r>
              <a:rPr lang="zh-CN" altLang="en-US" dirty="0" smtClean="0"/>
              <a:t>（暂定为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99592" y="4509120"/>
            <a:ext cx="576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输出（最好每条博文为一个</a:t>
            </a:r>
            <a:r>
              <a:rPr lang="en-US" altLang="zh-CN" b="1" dirty="0" smtClean="0"/>
              <a:t>excel</a:t>
            </a:r>
            <a:r>
              <a:rPr lang="zh-CN" altLang="en-US" b="1" dirty="0" smtClean="0"/>
              <a:t>表格）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buFont typeface="Wingdings" pitchFamily="2" charset="2"/>
              <a:buChar char="l"/>
            </a:pPr>
            <a:r>
              <a:rPr lang="zh-CN" altLang="en-US" dirty="0" smtClean="0"/>
              <a:t>  筛选所得的博文（不需要图片）</a:t>
            </a:r>
            <a:endParaRPr lang="en-US" altLang="zh-CN" dirty="0" smtClean="0"/>
          </a:p>
          <a:p>
            <a:pPr>
              <a:buFont typeface="Wingdings" pitchFamily="2" charset="2"/>
              <a:buChar char="l"/>
            </a:pPr>
            <a:r>
              <a:rPr lang="zh-CN" altLang="en-US" dirty="0" smtClean="0"/>
              <a:t>  评论与转发者的相关信息，</a:t>
            </a:r>
            <a:r>
              <a:rPr lang="zh-CN" altLang="en-US" dirty="0" smtClean="0"/>
              <a:t>包括其</a:t>
            </a:r>
            <a:r>
              <a:rPr lang="en-US" altLang="zh-CN" dirty="0" smtClean="0"/>
              <a:t>ID</a:t>
            </a:r>
            <a:r>
              <a:rPr lang="zh-CN" altLang="en-US" dirty="0" smtClean="0"/>
              <a:t>、昵称、是否加</a:t>
            </a:r>
            <a:r>
              <a:rPr lang="en-US" altLang="zh-CN" dirty="0" smtClean="0"/>
              <a:t>V</a:t>
            </a:r>
            <a:r>
              <a:rPr lang="zh-CN" altLang="en-US" dirty="0" smtClean="0"/>
              <a:t>用户、粉丝数、关注数、微博数以及等级特征</a:t>
            </a:r>
            <a:endParaRPr lang="en-US" altLang="zh-CN" dirty="0" smtClean="0"/>
          </a:p>
          <a:p>
            <a:pPr>
              <a:buFont typeface="Wingdings" pitchFamily="2" charset="2"/>
              <a:buChar char="l"/>
            </a:pPr>
            <a:r>
              <a:rPr lang="zh-CN" altLang="en-US" dirty="0" smtClean="0"/>
              <a:t>  该博文下的对话关系矩阵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r>
              <a:rPr lang="zh-CN" altLang="en-US" dirty="0" smtClean="0"/>
              <a:t>给定微博列表，筛选出给定时间段内（如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25</a:t>
            </a:r>
            <a:r>
              <a:rPr lang="zh-CN" altLang="en-US" dirty="0" smtClean="0"/>
              <a:t>日</a:t>
            </a:r>
            <a:r>
              <a:rPr lang="en-US" altLang="zh-CN" dirty="0" smtClean="0"/>
              <a:t>-4</a:t>
            </a:r>
            <a:r>
              <a:rPr lang="zh-CN" altLang="en-US" dirty="0" smtClean="0"/>
              <a:t>月</a:t>
            </a:r>
            <a:r>
              <a:rPr lang="en-US" altLang="zh-CN" dirty="0" smtClean="0"/>
              <a:t>8</a:t>
            </a:r>
            <a:r>
              <a:rPr lang="zh-CN" altLang="en-US" dirty="0" smtClean="0"/>
              <a:t>日）这些微博中评论数与转发数均大于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（最好可变）的博文</a:t>
            </a:r>
            <a:endParaRPr lang="en-US" altLang="zh-CN" dirty="0" smtClean="0"/>
          </a:p>
          <a:p>
            <a:r>
              <a:rPr lang="zh-CN" altLang="en-US" dirty="0" smtClean="0"/>
              <a:t>示例：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2290" name="Picture 2" descr="C:\Users\cathy\AppData\Roaming\Fetion\temp\bcdab2ecc6bbf1d1cfaaa72d521ddfd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492896"/>
            <a:ext cx="7771382" cy="3961075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5868144" y="5661248"/>
            <a:ext cx="2952328" cy="79208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16016" y="4581128"/>
            <a:ext cx="25202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转发与评论是均大于</a:t>
            </a:r>
            <a:r>
              <a:rPr lang="en-US" altLang="zh-CN" dirty="0" smtClean="0"/>
              <a:t>10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6300192" y="5085184"/>
            <a:ext cx="648072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以该博文为摘取对象，获得其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转发与评论</a:t>
            </a:r>
            <a:r>
              <a:rPr lang="zh-CN" altLang="en-US" sz="2400" dirty="0" smtClean="0"/>
              <a:t>的所有内容，包括转发评论人（包括其</a:t>
            </a:r>
            <a:r>
              <a:rPr lang="en-US" altLang="zh-CN" sz="2400" dirty="0" smtClean="0"/>
              <a:t>ID</a:t>
            </a:r>
            <a:r>
              <a:rPr lang="zh-CN" altLang="en-US" sz="2400" dirty="0" smtClean="0"/>
              <a:t>、昵称、是否加</a:t>
            </a:r>
            <a:r>
              <a:rPr lang="en-US" altLang="zh-CN" sz="2400" dirty="0" smtClean="0"/>
              <a:t>V</a:t>
            </a:r>
            <a:r>
              <a:rPr lang="zh-CN" altLang="en-US" sz="2400" dirty="0" smtClean="0"/>
              <a:t>用户、粉丝数、关注数、微博数以及等级特征）以及其评论内容</a:t>
            </a:r>
            <a:endParaRPr lang="en-US" altLang="zh-CN" sz="2400" dirty="0" smtClean="0"/>
          </a:p>
          <a:p>
            <a:r>
              <a:rPr lang="zh-CN" altLang="en-US" sz="2400" dirty="0" smtClean="0"/>
              <a:t>示例：</a:t>
            </a:r>
            <a:endParaRPr lang="zh-CN" altLang="en-US" sz="2400" dirty="0"/>
          </a:p>
        </p:txBody>
      </p:sp>
      <p:pic>
        <p:nvPicPr>
          <p:cNvPr id="11266" name="Picture 2" descr="C:\Users\cathy\AppData\Roaming\Fetion\temp\22fa8a89718ea5d3ad1fef5423dd6b4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955916"/>
            <a:ext cx="4032448" cy="4902084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611560" y="2060848"/>
            <a:ext cx="576064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268" name="Picture 4" descr="C:\Users\cathy\AppData\Roaming\Fetion\temp\c727d3f00443d027eb5d02d5761a4f5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92487" y="2346150"/>
            <a:ext cx="4644009" cy="4467226"/>
          </a:xfrm>
          <a:prstGeom prst="rect">
            <a:avLst/>
          </a:prstGeom>
          <a:noFill/>
        </p:spPr>
      </p:pic>
      <p:sp>
        <p:nvSpPr>
          <p:cNvPr id="7" name="矩形 6"/>
          <p:cNvSpPr/>
          <p:nvPr/>
        </p:nvSpPr>
        <p:spPr>
          <a:xfrm>
            <a:off x="5076056" y="2348880"/>
            <a:ext cx="576064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r>
              <a:rPr lang="en-US" altLang="zh-CN" dirty="0" smtClean="0">
                <a:hlinkClick r:id="rId2"/>
              </a:rPr>
              <a:t>http://open.weibo.com/wiki/API%E6%96%87%E6%A1%A3_V2#.E8.AF.84.E8.AE.BA</a:t>
            </a:r>
            <a:endParaRPr lang="en-US" altLang="zh-CN" dirty="0" smtClean="0"/>
          </a:p>
          <a:p>
            <a:r>
              <a:rPr lang="zh-CN" altLang="en-US" dirty="0" smtClean="0"/>
              <a:t>上述链接提供了抓取评论和用户数据的一些</a:t>
            </a:r>
            <a:r>
              <a:rPr lang="en-US" altLang="zh-CN" dirty="0" smtClean="0"/>
              <a:t>API</a:t>
            </a:r>
            <a:r>
              <a:rPr lang="zh-CN" altLang="en-US" dirty="0" smtClean="0"/>
              <a:t>接口，供参考</a:t>
            </a:r>
            <a:endParaRPr lang="zh-CN" altLang="en-US" dirty="0"/>
          </a:p>
        </p:txBody>
      </p:sp>
      <p:pic>
        <p:nvPicPr>
          <p:cNvPr id="17410" name="Picture 2" descr="C:\Users\cathy\AppData\Roaming\Fetion\temp\da3fda9e469bbf61b7426efe7e8e189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780928"/>
            <a:ext cx="7196517" cy="2568699"/>
          </a:xfrm>
          <a:prstGeom prst="rect">
            <a:avLst/>
          </a:prstGeom>
          <a:noFill/>
        </p:spPr>
      </p:pic>
      <p:pic>
        <p:nvPicPr>
          <p:cNvPr id="17412" name="Picture 4" descr="C:\Users\cathy\AppData\Roaming\Fetion\temp\6b30120df1adaf329f38443fbe5b5b7f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3648" y="4149080"/>
            <a:ext cx="7724866" cy="2031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r>
              <a:rPr lang="zh-CN" altLang="en-US" dirty="0" smtClean="0"/>
              <a:t>将评论与转发内容进行语义分析，得出之间的对话关系，输出关系矩阵表格</a:t>
            </a:r>
            <a:endParaRPr lang="en-US" altLang="zh-CN" dirty="0" smtClean="0"/>
          </a:p>
          <a:p>
            <a:r>
              <a:rPr lang="zh-CN" altLang="en-US" dirty="0" smtClean="0"/>
              <a:t>关系矩阵示例：</a:t>
            </a:r>
            <a:endParaRPr lang="en-US" altLang="zh-CN" dirty="0" smtClean="0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259632" y="2348880"/>
          <a:ext cx="5544616" cy="36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154"/>
                <a:gridCol w="1386154"/>
                <a:gridCol w="1386154"/>
                <a:gridCol w="1386154"/>
              </a:tblGrid>
              <a:tr h="9001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9001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9001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9001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4" name="直接连接符 23"/>
          <p:cNvCxnSpPr/>
          <p:nvPr/>
        </p:nvCxnSpPr>
        <p:spPr>
          <a:xfrm>
            <a:off x="1259632" y="2348880"/>
            <a:ext cx="1368152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87624" y="284364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联系人</a:t>
            </a:r>
            <a:endParaRPr lang="zh-CN" alt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619672" y="241159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被联系人</a:t>
            </a:r>
            <a:endParaRPr lang="zh-CN" altLang="en-US" b="1" dirty="0"/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4499992" y="3356992"/>
            <a:ext cx="259228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36296" y="2996952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这个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A</a:t>
            </a:r>
            <a:r>
              <a:rPr lang="zh-CN" altLang="en-US" dirty="0" smtClean="0"/>
              <a:t>主动联系了</a:t>
            </a:r>
            <a:r>
              <a:rPr lang="en-US" altLang="zh-CN" dirty="0" smtClean="0"/>
              <a:t>B</a:t>
            </a:r>
            <a:endParaRPr lang="zh-CN" altLang="en-US" dirty="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2915816" y="4437112"/>
            <a:ext cx="4248472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08304" y="4149080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这个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B</a:t>
            </a:r>
            <a:r>
              <a:rPr lang="zh-CN" altLang="en-US" dirty="0" smtClean="0"/>
              <a:t>主动联系了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3851920" y="1412776"/>
            <a:ext cx="38884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矩阵中均为</a:t>
            </a:r>
            <a:r>
              <a:rPr lang="en-US" altLang="zh-CN" dirty="0" smtClean="0">
                <a:solidFill>
                  <a:srgbClr val="FF0000"/>
                </a:solidFill>
              </a:rPr>
              <a:t>0-1</a:t>
            </a:r>
            <a:r>
              <a:rPr lang="zh-CN" altLang="en-US" dirty="0" smtClean="0">
                <a:solidFill>
                  <a:srgbClr val="FF0000"/>
                </a:solidFill>
              </a:rPr>
              <a:t>变量，只记录是否发生过联系，而不记录发生了几次联系。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cathy\AppData\Roaming\Fetion\temp\4d732eb5d5523e38360faece5a63727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41574"/>
            <a:ext cx="8390496" cy="773807"/>
          </a:xfrm>
          <a:prstGeom prst="rect">
            <a:avLst/>
          </a:prstGeom>
          <a:noFill/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139952" y="2721695"/>
          <a:ext cx="4680520" cy="268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130"/>
                <a:gridCol w="1170130"/>
                <a:gridCol w="1170130"/>
                <a:gridCol w="1170130"/>
              </a:tblGrid>
              <a:tr h="67207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婷</a:t>
                      </a:r>
                      <a:r>
                        <a:rPr lang="en-US" altLang="zh-CN" dirty="0" smtClean="0"/>
                        <a:t>_</a:t>
                      </a:r>
                      <a:r>
                        <a:rPr lang="zh-CN" altLang="en-US" dirty="0" smtClean="0"/>
                        <a:t>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Emma</a:t>
                      </a:r>
                      <a:r>
                        <a:rPr lang="zh-CN" altLang="en-US" dirty="0" smtClean="0"/>
                        <a:t>嘻喵喵 </a:t>
                      </a:r>
                      <a:endParaRPr lang="zh-CN" altLang="en-US" dirty="0"/>
                    </a:p>
                  </a:txBody>
                  <a:tcPr/>
                </a:tc>
              </a:tr>
              <a:tr h="6720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720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婷</a:t>
                      </a:r>
                      <a:r>
                        <a:rPr lang="en-US" altLang="zh-CN" dirty="0" smtClean="0"/>
                        <a:t>_</a:t>
                      </a:r>
                      <a:r>
                        <a:rPr lang="zh-CN" altLang="en-US" dirty="0" smtClean="0"/>
                        <a:t>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6720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Emma</a:t>
                      </a:r>
                      <a:r>
                        <a:rPr lang="zh-CN" altLang="en-US" dirty="0" smtClean="0"/>
                        <a:t>嘻喵喵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67544" y="3369766"/>
          <a:ext cx="230425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  <a:gridCol w="1152128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牛尔亲研娜露可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牛尔亲研娜露可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5536" y="279370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初始表格：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419872" y="2289646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915816" y="4017838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11960" y="228964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读取该转发后生成的表格：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5536" y="4881934"/>
            <a:ext cx="338437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婷</a:t>
            </a:r>
            <a:r>
              <a:rPr lang="en-US" altLang="zh-CN" dirty="0" smtClean="0"/>
              <a:t>_</a:t>
            </a:r>
            <a:r>
              <a:rPr lang="zh-CN" altLang="en-US" dirty="0" smtClean="0"/>
              <a:t>听对于牛尔亲研娜露可（博主）的博文做出了反应，可以认为</a:t>
            </a:r>
            <a:r>
              <a:rPr lang="zh-CN" altLang="en-US" dirty="0" smtClean="0"/>
              <a:t>婷</a:t>
            </a:r>
            <a:r>
              <a:rPr lang="en-US" altLang="zh-CN" dirty="0" smtClean="0"/>
              <a:t>_</a:t>
            </a:r>
            <a:r>
              <a:rPr lang="zh-CN" altLang="en-US" dirty="0" smtClean="0"/>
              <a:t>听主动联系了尔亲研娜露可，所以在矩阵中该位置记录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3923928" y="4305870"/>
            <a:ext cx="1440160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08104" y="5457998"/>
            <a:ext cx="324036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婷</a:t>
            </a:r>
            <a:r>
              <a:rPr lang="en-US" altLang="zh-CN" dirty="0" smtClean="0"/>
              <a:t>_</a:t>
            </a:r>
            <a:r>
              <a:rPr lang="zh-CN" altLang="en-US" dirty="0" smtClean="0"/>
              <a:t>听在转发中</a:t>
            </a:r>
            <a:r>
              <a:rPr lang="en-US" altLang="zh-CN" dirty="0" smtClean="0"/>
              <a:t>@</a:t>
            </a:r>
            <a:r>
              <a:rPr lang="zh-CN" altLang="en-US" dirty="0" smtClean="0"/>
              <a:t>了</a:t>
            </a:r>
            <a:r>
              <a:rPr lang="en-US" altLang="zh-CN" dirty="0" smtClean="0"/>
              <a:t>Emma</a:t>
            </a:r>
            <a:r>
              <a:rPr lang="zh-CN" altLang="en-US" dirty="0" smtClean="0"/>
              <a:t>嘻喵喵，视为</a:t>
            </a:r>
            <a:r>
              <a:rPr lang="zh-CN" altLang="en-US" dirty="0" smtClean="0"/>
              <a:t>婷</a:t>
            </a:r>
            <a:r>
              <a:rPr lang="en-US" altLang="zh-CN" dirty="0" smtClean="0"/>
              <a:t>_</a:t>
            </a:r>
            <a:r>
              <a:rPr lang="zh-CN" altLang="en-US" dirty="0" smtClean="0"/>
              <a:t>听主动联系了</a:t>
            </a:r>
            <a:r>
              <a:rPr lang="en-US" altLang="zh-CN" dirty="0" smtClean="0"/>
              <a:t>Emma</a:t>
            </a:r>
            <a:r>
              <a:rPr lang="zh-CN" altLang="en-US" dirty="0" smtClean="0"/>
              <a:t>嘻喵喵，所以记录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7740352" y="4449886"/>
            <a:ext cx="72008" cy="93610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648071"/>
          </a:xfrm>
        </p:spPr>
        <p:txBody>
          <a:bodyPr/>
          <a:lstStyle/>
          <a:p>
            <a:r>
              <a:rPr lang="zh-CN" altLang="en-US" dirty="0" smtClean="0"/>
              <a:t>语义分析时几种可能出现的情况：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cathy\AppData\Roaming\Fetion\temp\7517cad6290ee3631ec19a9f57bb6b9f.png"/>
          <p:cNvPicPr>
            <a:picLocks noChangeAspect="1" noChangeArrowheads="1"/>
          </p:cNvPicPr>
          <p:nvPr/>
        </p:nvPicPr>
        <p:blipFill>
          <a:blip r:embed="rId2" cstate="print"/>
          <a:srcRect t="21386" b="7327"/>
          <a:stretch>
            <a:fillRect/>
          </a:stretch>
        </p:blipFill>
        <p:spPr bwMode="auto">
          <a:xfrm>
            <a:off x="827584" y="1054477"/>
            <a:ext cx="7272808" cy="720080"/>
          </a:xfrm>
          <a:prstGeom prst="rect">
            <a:avLst/>
          </a:prstGeom>
          <a:noFill/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1520" y="2206605"/>
          <a:ext cx="2880320" cy="2605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/>
                <a:gridCol w="720080"/>
                <a:gridCol w="480053"/>
                <a:gridCol w="960107"/>
              </a:tblGrid>
              <a:tr h="55910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婷</a:t>
                      </a:r>
                      <a:r>
                        <a:rPr lang="en-US" altLang="zh-CN" sz="1400" dirty="0" smtClean="0"/>
                        <a:t>_</a:t>
                      </a:r>
                      <a:r>
                        <a:rPr lang="zh-CN" altLang="en-US" sz="1400" dirty="0" smtClean="0"/>
                        <a:t>听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Emma</a:t>
                      </a:r>
                      <a:r>
                        <a:rPr lang="zh-CN" altLang="en-US" sz="1400" dirty="0" smtClean="0"/>
                        <a:t>嘻喵喵 </a:t>
                      </a:r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09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婷</a:t>
                      </a:r>
                      <a:r>
                        <a:rPr lang="en-US" altLang="zh-CN" sz="1400" dirty="0" smtClean="0"/>
                        <a:t>_</a:t>
                      </a:r>
                      <a:r>
                        <a:rPr lang="zh-CN" altLang="en-US" sz="1400" dirty="0" smtClean="0"/>
                        <a:t>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Emma</a:t>
                      </a:r>
                      <a:r>
                        <a:rPr lang="zh-CN" altLang="en-US" sz="1400" dirty="0" smtClean="0"/>
                        <a:t>嘻喵喵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3779912" y="1702549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3275856" y="3430741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427984" y="2134597"/>
          <a:ext cx="4392490" cy="299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592"/>
                <a:gridCol w="823592"/>
                <a:gridCol w="823592"/>
                <a:gridCol w="823592"/>
                <a:gridCol w="1098122"/>
              </a:tblGrid>
              <a:tr h="55910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婷</a:t>
                      </a:r>
                      <a:r>
                        <a:rPr lang="en-US" altLang="zh-CN" sz="1400" dirty="0" smtClean="0"/>
                        <a:t>_</a:t>
                      </a:r>
                      <a:r>
                        <a:rPr lang="zh-CN" altLang="en-US" sz="1400" dirty="0" smtClean="0"/>
                        <a:t>听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Emma</a:t>
                      </a:r>
                      <a:r>
                        <a:rPr lang="zh-CN" altLang="en-US" sz="1400" dirty="0" smtClean="0"/>
                        <a:t>嘻喵喵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</a:t>
                      </a:r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09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婷</a:t>
                      </a:r>
                      <a:r>
                        <a:rPr lang="en-US" altLang="zh-CN" sz="1400" dirty="0" smtClean="0"/>
                        <a:t>_</a:t>
                      </a:r>
                      <a:r>
                        <a:rPr lang="zh-CN" altLang="en-US" sz="1400" dirty="0" smtClean="0"/>
                        <a:t>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Emma</a:t>
                      </a:r>
                      <a:r>
                        <a:rPr lang="zh-CN" altLang="en-US" sz="1400" dirty="0" smtClean="0"/>
                        <a:t>嘻喵喵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915816" y="5590981"/>
            <a:ext cx="26642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牛尔转发或者评论该微博，在该矩阵位置记录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4499992" y="4870901"/>
            <a:ext cx="864096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cathy\AppData\Roaming\Fetion\temp\b4779388d8512eb40c7da4ef139f7ad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836712"/>
            <a:ext cx="8342260" cy="122413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51520" y="3967896"/>
            <a:ext cx="288032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出现这种情况，说明</a:t>
            </a:r>
            <a:r>
              <a:rPr lang="zh-CN" altLang="en-US" u="sng" dirty="0">
                <a:hlinkClick r:id="rId3" tooltip="熊猫晓琪爱hyukhae爱翼之声"/>
              </a:rPr>
              <a:t>熊猫晓琪爱</a:t>
            </a:r>
            <a:r>
              <a:rPr lang="en-US" altLang="zh-CN" u="sng" dirty="0" err="1">
                <a:hlinkClick r:id="rId3" tooltip="熊猫晓琪爱hyukhae爱翼之声"/>
              </a:rPr>
              <a:t>hyukhae</a:t>
            </a:r>
            <a:r>
              <a:rPr lang="zh-CN" altLang="en-US" u="sng" dirty="0">
                <a:hlinkClick r:id="rId3" tooltip="熊猫晓琪爱hyukhae爱翼之声"/>
              </a:rPr>
              <a:t>爱翼之</a:t>
            </a:r>
            <a:r>
              <a:rPr lang="zh-CN" altLang="en-US" u="sng" dirty="0" smtClean="0">
                <a:hlinkClick r:id="rId3" tooltip="熊猫晓琪爱hyukhae爱翼之声"/>
              </a:rPr>
              <a:t>声</a:t>
            </a:r>
            <a:r>
              <a:rPr lang="zh-CN" altLang="en-US" dirty="0" smtClean="0"/>
              <a:t>转发了牛尔的微博，即直接联系了牛尔，而非博主，所以记录如下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572000" y="908720"/>
            <a:ext cx="792088" cy="79208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203848" y="1988840"/>
          <a:ext cx="5940153" cy="4709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851873"/>
                <a:gridCol w="523079"/>
                <a:gridCol w="821981"/>
                <a:gridCol w="423401"/>
                <a:gridCol w="1668914"/>
                <a:gridCol w="858817"/>
              </a:tblGrid>
              <a:tr h="576064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婷</a:t>
                      </a:r>
                      <a:r>
                        <a:rPr lang="en-US" altLang="zh-CN" sz="1400" dirty="0" smtClean="0"/>
                        <a:t>_</a:t>
                      </a:r>
                      <a:r>
                        <a:rPr lang="zh-CN" altLang="en-US" sz="1400" dirty="0" smtClean="0"/>
                        <a:t>听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Emma</a:t>
                      </a:r>
                      <a:r>
                        <a:rPr lang="zh-CN" altLang="en-US" sz="1400" dirty="0" smtClean="0"/>
                        <a:t>嘻喵喵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熊猫晓琪爱</a:t>
                      </a:r>
                      <a:r>
                        <a:rPr lang="en-US" altLang="zh-CN" sz="1400" dirty="0" err="1" smtClean="0"/>
                        <a:t>hyukhae</a:t>
                      </a:r>
                      <a:r>
                        <a:rPr lang="zh-CN" altLang="en-US" sz="1400" dirty="0" smtClean="0"/>
                        <a:t>爱翼之声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 smtClean="0"/>
                        <a:t>AndreaNJJ</a:t>
                      </a:r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牛尔亲研娜露可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09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婷</a:t>
                      </a:r>
                      <a:r>
                        <a:rPr lang="en-US" altLang="zh-CN" sz="1400" dirty="0" smtClean="0"/>
                        <a:t>_</a:t>
                      </a:r>
                      <a:r>
                        <a:rPr lang="zh-CN" altLang="en-US" sz="1400" dirty="0" smtClean="0"/>
                        <a:t>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Emma</a:t>
                      </a:r>
                      <a:r>
                        <a:rPr lang="zh-CN" altLang="en-US" sz="1400" dirty="0" smtClean="0"/>
                        <a:t>嘻喵喵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牛尔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sng" dirty="0" smtClean="0">
                          <a:hlinkClick r:id="rId3" tooltip="熊猫晓琪爱hyukhae爱翼之声"/>
                        </a:rPr>
                        <a:t>熊猫晓琪爱</a:t>
                      </a:r>
                      <a:r>
                        <a:rPr lang="en-US" altLang="zh-CN" sz="1400" u="sng" dirty="0" err="1" smtClean="0">
                          <a:hlinkClick r:id="rId3" tooltip="熊猫晓琪爱hyukhae爱翼之声"/>
                        </a:rPr>
                        <a:t>hyukhae</a:t>
                      </a:r>
                      <a:r>
                        <a:rPr lang="zh-CN" altLang="en-US" sz="1400" u="sng" dirty="0" smtClean="0">
                          <a:hlinkClick r:id="rId3" tooltip="熊猫晓琪爱hyukhae爱翼之声"/>
                        </a:rPr>
                        <a:t>爱翼之声</a:t>
                      </a: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5591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 smtClean="0"/>
                        <a:t>AndreaNJJ</a:t>
                      </a: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直接箭头连接符 8"/>
          <p:cNvCxnSpPr/>
          <p:nvPr/>
        </p:nvCxnSpPr>
        <p:spPr>
          <a:xfrm>
            <a:off x="3131840" y="4653136"/>
            <a:ext cx="3024336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5536" y="1988840"/>
            <a:ext cx="237626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u="sng" dirty="0" smtClean="0">
                <a:hlinkClick r:id="rId3" tooltip="熊猫晓琪爱hyukhae爱翼之声"/>
              </a:rPr>
              <a:t>熊猫晓琪爱</a:t>
            </a:r>
            <a:r>
              <a:rPr lang="en-US" altLang="zh-CN" u="sng" dirty="0" err="1" smtClean="0">
                <a:hlinkClick r:id="rId3" tooltip="熊猫晓琪爱hyukhae爱翼之声"/>
              </a:rPr>
              <a:t>hyukhae</a:t>
            </a:r>
            <a:r>
              <a:rPr lang="zh-CN" altLang="en-US" u="sng" dirty="0" smtClean="0">
                <a:hlinkClick r:id="rId3" tooltip="熊猫晓琪爱hyukhae爱翼之声"/>
              </a:rPr>
              <a:t>爱翼之声</a:t>
            </a:r>
            <a:r>
              <a:rPr lang="en-US" altLang="zh-CN" dirty="0" smtClean="0"/>
              <a:t>@</a:t>
            </a:r>
            <a:r>
              <a:rPr lang="zh-CN" altLang="en-US" dirty="0" smtClean="0"/>
              <a:t>了</a:t>
            </a:r>
            <a:r>
              <a:rPr lang="en-US" altLang="zh-CN" dirty="0" err="1" smtClean="0"/>
              <a:t>AndreaNJJ</a:t>
            </a:r>
            <a:r>
              <a:rPr lang="zh-CN" altLang="en-US" dirty="0" smtClean="0"/>
              <a:t>，按照之前的做法处理</a:t>
            </a:r>
            <a:endParaRPr lang="zh-CN" altLang="en-US" dirty="0"/>
          </a:p>
        </p:txBody>
      </p:sp>
      <p:cxnSp>
        <p:nvCxnSpPr>
          <p:cNvPr id="15" name="直接箭头连接符 14"/>
          <p:cNvCxnSpPr>
            <a:stCxn id="11" idx="3"/>
          </p:cNvCxnSpPr>
          <p:nvPr/>
        </p:nvCxnSpPr>
        <p:spPr>
          <a:xfrm>
            <a:off x="2771800" y="2450505"/>
            <a:ext cx="5544616" cy="263467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43608" y="118373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若有多次转发，则会出现多个</a:t>
            </a:r>
            <a:r>
              <a:rPr lang="en-US" altLang="zh-CN" dirty="0" smtClean="0"/>
              <a:t>//</a:t>
            </a:r>
            <a:r>
              <a:rPr lang="zh-CN" altLang="en-US" dirty="0" smtClean="0"/>
              <a:t>，这时认为评论或转发者主动联系最近的一个</a:t>
            </a:r>
            <a:r>
              <a:rPr lang="en-US" altLang="zh-CN" dirty="0" smtClean="0"/>
              <a:t>//</a:t>
            </a:r>
            <a:r>
              <a:rPr lang="zh-CN" altLang="en-US" dirty="0" smtClean="0"/>
              <a:t>后面的转发者</a:t>
            </a:r>
            <a:endParaRPr lang="zh-CN" altLang="en-US" dirty="0"/>
          </a:p>
        </p:txBody>
      </p:sp>
      <p:cxnSp>
        <p:nvCxnSpPr>
          <p:cNvPr id="19" name="直接箭头连接符 18"/>
          <p:cNvCxnSpPr>
            <a:stCxn id="17" idx="2"/>
            <a:endCxn id="6" idx="1"/>
          </p:cNvCxnSpPr>
          <p:nvPr/>
        </p:nvCxnSpPr>
        <p:spPr>
          <a:xfrm>
            <a:off x="3527884" y="764704"/>
            <a:ext cx="1044116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cathy\AppData\Roaming\Fetion\temp\8c458ee6062d67eb388f366ae38a09a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052736"/>
            <a:ext cx="8511323" cy="912491"/>
          </a:xfrm>
          <a:prstGeom prst="rect">
            <a:avLst/>
          </a:prstGeom>
          <a:noFill/>
        </p:spPr>
      </p:pic>
      <p:pic>
        <p:nvPicPr>
          <p:cNvPr id="20484" name="Picture 4" descr="C:\Users\cathy\AppData\Roaming\Fetion\temp\61debb96b760c9f39be62c7546c411b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916832"/>
            <a:ext cx="8424936" cy="982911"/>
          </a:xfrm>
          <a:prstGeom prst="rect">
            <a:avLst/>
          </a:prstGeom>
          <a:noFill/>
        </p:spPr>
      </p:pic>
      <p:pic>
        <p:nvPicPr>
          <p:cNvPr id="20486" name="Picture 6" descr="C:\Users\cathy\AppData\Roaming\Fetion\temp\816e9ebec06ebc37310f2b65d467e204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3573015"/>
            <a:ext cx="8280920" cy="94931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83568" y="29969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出现以上两种情况，则视为评论或转发者主动与博主联系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4581128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出现“回复”这种情况，则视为</a:t>
            </a:r>
            <a:r>
              <a:rPr lang="zh-CN" altLang="en-US" u="sng" dirty="0">
                <a:hlinkClick r:id="rId5" tooltip="葭苓"/>
              </a:rPr>
              <a:t>葭</a:t>
            </a:r>
            <a:r>
              <a:rPr lang="zh-CN" altLang="en-US" u="sng" dirty="0" smtClean="0">
                <a:hlinkClick r:id="rId5" tooltip="葭苓"/>
              </a:rPr>
              <a:t>苓</a:t>
            </a:r>
            <a:r>
              <a:rPr lang="zh-CN" altLang="en-US" u="sng" dirty="0" smtClean="0"/>
              <a:t>主动</a:t>
            </a:r>
            <a:r>
              <a:rPr lang="zh-CN" altLang="en-US" dirty="0" smtClean="0"/>
              <a:t>联系</a:t>
            </a:r>
            <a:r>
              <a:rPr lang="zh-CN" altLang="en-US" u="sng" dirty="0" smtClean="0">
                <a:hlinkClick r:id="rId6"/>
              </a:rPr>
              <a:t>瑜</a:t>
            </a:r>
            <a:r>
              <a:rPr lang="zh-CN" altLang="en-US" u="sng" dirty="0">
                <a:hlinkClick r:id="rId6"/>
              </a:rPr>
              <a:t>龙</a:t>
            </a:r>
            <a:r>
              <a:rPr lang="zh-CN" altLang="en-US" u="sng" dirty="0" smtClean="0">
                <a:hlinkClick r:id="rId6"/>
              </a:rPr>
              <a:t>宝贝</a:t>
            </a:r>
            <a:r>
              <a:rPr lang="zh-CN" altLang="en-US" dirty="0" smtClean="0"/>
              <a:t>，不与博主产生联系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1560" y="5229200"/>
            <a:ext cx="835292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备注：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评论与转发可能会发生重复，即相同的记录同时出现在评论与转发下，要注意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753</Words>
  <Application>Microsoft Office PowerPoint</Application>
  <PresentationFormat>全屏显示(4:3)</PresentationFormat>
  <Paragraphs>93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程序需求</vt:lpstr>
      <vt:lpstr>综述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Company>DELLNBX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程序需求</dc:title>
  <dc:creator>cathy</dc:creator>
  <cp:lastModifiedBy>cathy</cp:lastModifiedBy>
  <cp:revision>2</cp:revision>
  <dcterms:created xsi:type="dcterms:W3CDTF">2013-04-17T01:06:31Z</dcterms:created>
  <dcterms:modified xsi:type="dcterms:W3CDTF">2013-04-17T02:45:17Z</dcterms:modified>
</cp:coreProperties>
</file>